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13"/>
  </p:notesMasterIdLst>
  <p:sldIdLst>
    <p:sldId id="1298" r:id="rId2"/>
    <p:sldId id="1302" r:id="rId3"/>
    <p:sldId id="1303" r:id="rId4"/>
    <p:sldId id="1304" r:id="rId5"/>
    <p:sldId id="1307" r:id="rId6"/>
    <p:sldId id="1311" r:id="rId7"/>
    <p:sldId id="1306" r:id="rId8"/>
    <p:sldId id="1308" r:id="rId9"/>
    <p:sldId id="267" r:id="rId10"/>
    <p:sldId id="1310" r:id="rId11"/>
    <p:sldId id="271" r:id="rId12"/>
  </p:sldIdLst>
  <p:sldSz cx="12192000" cy="6858000"/>
  <p:notesSz cx="12192000" cy="6858000"/>
  <p:custDataLst>
    <p:tags r:id="rId14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51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4" orient="horz" pos="9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9BF30E-20C8-9208-5630-99B93775582F}" name="Neha Maheshwari" initials="NM" userId="S::neha@edunetfoundation.org::8c84accf-0c37-4353-a3c4-b0578e30e5e4" providerId="AD"/>
  <p188:author id="{BD458232-9C64-883B-B2F5-BCAB8DE971E8}" name="Harkiran Kaur Sitara" initials="HS" userId="S::hkaur@edunetfoundation.org::6d6a57b8-bd9a-471a-8916-dfd72a492427" providerId="AD"/>
  <p188:author id="{78B32D43-D2AB-B8CA-37BA-5E9C3DA551F3}" name="Rashmi Vohra" initials="RV" userId="S::rashmi@edunetfoundation.org::dd83c91e-93ca-49ae-a15c-c42dcb61dd1f" providerId="AD"/>
  <p188:author id="{BA51AE4F-61DD-94CA-CD1C-118C96695E29}" name="Serena Joseph" initials="SJ" userId="S::sjoseph@edunetfoundation.org::fec52140-248b-4b05-a802-736c5c36ed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63"/>
    <a:srgbClr val="FFC509"/>
    <a:srgbClr val="FFF3CD"/>
    <a:srgbClr val="3333FF"/>
    <a:srgbClr val="DFEEFD"/>
    <a:srgbClr val="55A3F3"/>
    <a:srgbClr val="A4A3A4"/>
    <a:srgbClr val="629AF4"/>
    <a:srgbClr val="E67450"/>
    <a:srgbClr val="EB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56E78-6B91-BBEC-C8BB-01CF1B728EF2}" v="55" dt="2025-10-14T08:16:50.38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97" autoAdjust="0"/>
  </p:normalViewPr>
  <p:slideViewPr>
    <p:cSldViewPr snapToGrid="0">
      <p:cViewPr varScale="1">
        <p:scale>
          <a:sx n="89" d="100"/>
          <a:sy n="89" d="100"/>
        </p:scale>
        <p:origin x="437" y="216"/>
      </p:cViewPr>
      <p:guideLst>
        <p:guide orient="horz" pos="1512"/>
        <p:guide pos="312"/>
        <p:guide orient="horz" pos="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DA4AA-0FF9-453D-94EE-83C1792FCA55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0CB1-A81F-4EE9-B081-19C290D46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8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091F-CDAA-02D2-C005-8C8DE5A9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BD7E5-D933-E5F7-D072-E39FDE874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70718-A33A-A493-3DD6-D0F89C941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r>
              <a:rPr lang="en-US" b="1"/>
              <a:t>Objective: To get an insight about Design Thinking</a:t>
            </a:r>
            <a:endParaRPr lang="en-US"/>
          </a:p>
          <a:p>
            <a:r>
              <a:rPr lang="en-US" b="1"/>
              <a:t>Procedure:</a:t>
            </a:r>
            <a:endParaRPr lang="en-US"/>
          </a:p>
          <a:p>
            <a:r>
              <a:rPr lang="en-US" b="1"/>
              <a:t>Explanation:</a:t>
            </a:r>
            <a:endParaRPr lang="en-US" b="1">
              <a:cs typeface="Calibri"/>
            </a:endParaRPr>
          </a:p>
          <a:p>
            <a:r>
              <a:rPr lang="en-US" b="1"/>
              <a:t>Introduce the topic "Design Thinking"</a:t>
            </a:r>
            <a:r>
              <a:rPr lang="en-US"/>
              <a:t> 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Design thinking is a creative approach to problem-solving that puts people at the center. </a:t>
            </a:r>
            <a:endParaRPr lang="en-US"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It starts with understanding the needs of those who will use what you're designing.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Then, it involves brainstorming ideas, prototyping solutions, and testing them to see what works best.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It's about being open-minded, collaborative, and willing to try new things to come up with innovative solutions that really fit people's needs.</a:t>
            </a:r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 b="1"/>
              <a:t>Learning outcome: Students will be introduced to the topic Design Thinking.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9CDB7-E329-CB0C-39AB-3AC7E1A8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25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9506-C131-2AF6-29D0-70FA3166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DC8E4-9EC8-9053-EB93-6F6DD2F29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D1FAE-0157-77E2-17BE-06C6C650F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know the content of the lesson.</a:t>
            </a:r>
            <a:endParaRPr lang="en-US"/>
          </a:p>
          <a:p>
            <a:endParaRPr lang="en-US" b="1"/>
          </a:p>
          <a:p>
            <a:r>
              <a:rPr lang="en-US" b="1"/>
              <a:t>Procedure: </a:t>
            </a:r>
            <a:endParaRPr lang="en-US"/>
          </a:p>
          <a:p>
            <a:r>
              <a:rPr lang="en-US" b="1"/>
              <a:t>Tell students what they are going to learn today.</a:t>
            </a:r>
            <a:endParaRPr lang="en-US"/>
          </a:p>
          <a:p>
            <a:r>
              <a:rPr lang="en-US" b="1"/>
              <a:t>Discuss each topics given in the slide.</a:t>
            </a:r>
            <a:endParaRPr lang="en-US"/>
          </a:p>
          <a:p>
            <a:endParaRPr lang="en-US" b="1"/>
          </a:p>
          <a:p>
            <a:r>
              <a:rPr lang="en-US" b="1"/>
              <a:t>Learning Outcome: Students will get to know the content of today's lesson.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FAA5B-2BE1-BDC2-9CC2-995FA82C7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12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C8DF-C6CD-4928-1CA4-086D4550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AD002-62F8-8916-593B-343E5F05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13043-DFE7-63A6-38A6-E5C26B8A1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B8DE7-C418-84FE-C67C-74B981A5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70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D8AC-D7EB-7BDB-1084-83AC7711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F1DC3-98E6-7C3B-86DB-099D77CF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B4D31-DCBC-14BB-E02F-EAFCAD095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AF935-E999-82B4-036C-A4AF6A677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72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C7F5-F21B-DECC-F78B-E750E311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F32E1-B0F8-950E-7D68-215FAF2A4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F6042-08C9-4092-7FAF-A2C3F478B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C91EB-67D2-C956-FCA2-A383DE41E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87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5888-2BBD-BE64-9FA7-8AF1F5E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4F79C-68D0-6EA3-3E12-A518D83D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18665-CB16-50F7-C752-3BB7E773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47D9C-2BDF-3806-C567-276D5552F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41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CC2A-D27F-A08C-A9F7-F097CBC8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D24A9-904E-EDBE-00A4-18754A244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7F0F2-1B91-747F-AA12-4852DC4F1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C5A9D-BAC7-353F-EB58-8AF7CB51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85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3B37-E957-FF5C-2010-892346C7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B2A7C-31A2-F0CA-A496-0C4F82962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1AD3F-FB8D-7143-4B71-4EE10CA1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B922E-83A2-014C-DA79-4805012C8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19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get clarity about the lesson is well received among students.</a:t>
            </a:r>
            <a:endParaRPr lang="en-US">
              <a:cs typeface="Calibri"/>
            </a:endParaRPr>
          </a:p>
          <a:p>
            <a:endParaRPr lang="en-US" b="1"/>
          </a:p>
          <a:p>
            <a:r>
              <a:rPr lang="en-US" b="1"/>
              <a:t>Procedure: </a:t>
            </a:r>
            <a:endParaRPr lang="en-US">
              <a:cs typeface="Calibri"/>
            </a:endParaRPr>
          </a:p>
          <a:p>
            <a:r>
              <a:rPr lang="en-US" b="1"/>
              <a:t>Ask: What did you learn from the lesson?</a:t>
            </a:r>
            <a:endParaRPr lang="en-US"/>
          </a:p>
          <a:p>
            <a:r>
              <a:rPr lang="en-US" b="1"/>
              <a:t>What is your takeaways from the lesson?</a:t>
            </a:r>
            <a:endParaRPr lang="en-US"/>
          </a:p>
          <a:p>
            <a:r>
              <a:rPr lang="en-US" b="1"/>
              <a:t>How this lesson is going to help you in your personal and professional life.</a:t>
            </a:r>
            <a:endParaRPr lang="en-US"/>
          </a:p>
          <a:p>
            <a:r>
              <a:rPr lang="en-US" b="1"/>
              <a:t>How are you going to implement this lesson?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14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D5D-A06D-D42D-F2F2-A5ED0DA6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5EE4F-7900-BB8B-9722-48FDE072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F798C-3D03-E733-CAEA-D1FDE7165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8D04E-F33C-F197-E7F6-1C529EE3E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70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Time: </a:t>
            </a:r>
            <a:r>
              <a:rPr lang="en-US"/>
              <a:t>25 to 30 Sec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94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751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5948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4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293970" y="1161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94A6F2-3958-82D4-6DD8-BEA23BC7CE0B}"/>
              </a:ext>
            </a:extLst>
          </p:cNvPr>
          <p:cNvSpPr/>
          <p:nvPr userDrawn="1"/>
        </p:nvSpPr>
        <p:spPr>
          <a:xfrm>
            <a:off x="7283428" y="62784"/>
            <a:ext cx="1109472" cy="584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BB0A9C-D4D0-4270-6567-BD2D62A37CB4}"/>
              </a:ext>
            </a:extLst>
          </p:cNvPr>
          <p:cNvSpPr/>
          <p:nvPr userDrawn="1"/>
        </p:nvSpPr>
        <p:spPr>
          <a:xfrm>
            <a:off x="-1" y="0"/>
            <a:ext cx="8791576" cy="695325"/>
          </a:xfrm>
          <a:prstGeom prst="rect">
            <a:avLst/>
          </a:prstGeom>
          <a:solidFill>
            <a:srgbClr val="2131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C22728B-18F8-AEF3-8871-561E9C3737AF}"/>
              </a:ext>
            </a:extLst>
          </p:cNvPr>
          <p:cNvSpPr/>
          <p:nvPr userDrawn="1"/>
        </p:nvSpPr>
        <p:spPr>
          <a:xfrm rot="7879934">
            <a:off x="7704457" y="483903"/>
            <a:ext cx="1735808" cy="8445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BE9A7-CD12-16D7-1936-B3E207021293}"/>
              </a:ext>
            </a:extLst>
          </p:cNvPr>
          <p:cNvSpPr txBox="1"/>
          <p:nvPr userDrawn="1"/>
        </p:nvSpPr>
        <p:spPr>
          <a:xfrm>
            <a:off x="400050" y="125730"/>
            <a:ext cx="78962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200" b="1" dirty="0">
                <a:solidFill>
                  <a:schemeClr val="bg1"/>
                </a:solidFill>
                <a:latin typeface="+mj-lt"/>
              </a:rPr>
              <a:t>Creating A Future-ready Workforce</a:t>
            </a:r>
          </a:p>
        </p:txBody>
      </p:sp>
      <p:pic>
        <p:nvPicPr>
          <p:cNvPr id="4" name="Picture 3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id="{F2EDF266-FEEE-64FB-9F87-7CC86D1F87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/>
        </p:blipFill>
        <p:spPr>
          <a:xfrm>
            <a:off x="11094195" y="-24407"/>
            <a:ext cx="1097805" cy="716023"/>
          </a:xfrm>
          <a:prstGeom prst="rect">
            <a:avLst/>
          </a:prstGeom>
        </p:spPr>
      </p:pic>
    </p:spTree>
    <p:custDataLst>
      <p:tags r:id="rId5"/>
    </p:custDataLst>
    <p:extLst>
      <p:ext uri="{BB962C8B-B14F-4D97-AF65-F5344CB8AC3E}">
        <p14:creationId xmlns:p14="http://schemas.microsoft.com/office/powerpoint/2010/main" val="19257727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BFCA35-CBAC-B371-5A9D-16CEF40A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 descr="Three circles each containing concentric circles.">
            <a:extLst>
              <a:ext uri="{FF2B5EF4-FFF2-40B4-BE49-F238E27FC236}">
                <a16:creationId xmlns:a16="http://schemas.microsoft.com/office/drawing/2014/main" id="{2BB9B87E-CCB4-1C05-BDD7-49BD2F443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8915" y="-754580"/>
            <a:ext cx="6985841" cy="69858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AFB906-E0C0-DE0E-8396-74F0D23A59D1}"/>
              </a:ext>
            </a:extLst>
          </p:cNvPr>
          <p:cNvSpPr/>
          <p:nvPr/>
        </p:nvSpPr>
        <p:spPr>
          <a:xfrm>
            <a:off x="0" y="1"/>
            <a:ext cx="2187103" cy="6857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0C1F04-2B40-4D2E-6A1F-0A6A0E0ECE7F}"/>
              </a:ext>
            </a:extLst>
          </p:cNvPr>
          <p:cNvSpPr/>
          <p:nvPr/>
        </p:nvSpPr>
        <p:spPr>
          <a:xfrm>
            <a:off x="6227605" y="1664587"/>
            <a:ext cx="361400" cy="3726175"/>
          </a:xfrm>
          <a:prstGeom prst="rect">
            <a:avLst/>
          </a:prstGeom>
          <a:solidFill>
            <a:srgbClr val="FFC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Close-up of two people's hands pointing at laptop screen with stack of 4 books in background, one person holding a pen">
            <a:extLst>
              <a:ext uri="{FF2B5EF4-FFF2-40B4-BE49-F238E27FC236}">
                <a16:creationId xmlns:a16="http://schemas.microsoft.com/office/drawing/2014/main" id="{1753CBC7-1B60-ACAD-8449-1E02682C33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r="20650"/>
          <a:stretch/>
        </p:blipFill>
        <p:spPr>
          <a:xfrm flipH="1">
            <a:off x="564320" y="631080"/>
            <a:ext cx="5882641" cy="5735112"/>
          </a:xfrm>
          <a:prstGeom prst="rect">
            <a:avLst/>
          </a:prstGeom>
        </p:spPr>
      </p:pic>
      <p:pic>
        <p:nvPicPr>
          <p:cNvPr id="28" name="Picture 27" descr="A yellow sign with blue and black lines&#10;&#10;AI-generated content may be incorrect.">
            <a:extLst>
              <a:ext uri="{FF2B5EF4-FFF2-40B4-BE49-F238E27FC236}">
                <a16:creationId xmlns:a16="http://schemas.microsoft.com/office/drawing/2014/main" id="{A6445770-34AE-34D1-DF4B-2580AC1729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3231" y="619660"/>
            <a:ext cx="696004" cy="599966"/>
          </a:xfrm>
          <a:prstGeom prst="rect">
            <a:avLst/>
          </a:prstGeom>
        </p:spPr>
      </p:pic>
      <p:pic>
        <p:nvPicPr>
          <p:cNvPr id="29" name="Picture 28" descr="A close up of a logo&#10;&#10;AI-generated content may be incorrect.">
            <a:extLst>
              <a:ext uri="{FF2B5EF4-FFF2-40B4-BE49-F238E27FC236}">
                <a16:creationId xmlns:a16="http://schemas.microsoft.com/office/drawing/2014/main" id="{8F7F974D-2D1F-F052-896D-E000E0AF7B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5861" y="695122"/>
            <a:ext cx="1380636" cy="449042"/>
          </a:xfrm>
          <a:prstGeom prst="rect">
            <a:avLst/>
          </a:prstGeom>
        </p:spPr>
      </p:pic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9AEA9CBA-CAFF-3524-2EE2-2718905945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131" y="642644"/>
            <a:ext cx="838995" cy="553998"/>
          </a:xfrm>
          <a:prstGeom prst="rect">
            <a:avLst/>
          </a:prstGeom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6A8BFA17-ACF5-21DA-81BC-A9A793A30FE6}"/>
              </a:ext>
            </a:extLst>
          </p:cNvPr>
          <p:cNvSpPr txBox="1"/>
          <p:nvPr/>
        </p:nvSpPr>
        <p:spPr>
          <a:xfrm>
            <a:off x="7036372" y="1078302"/>
            <a:ext cx="4873973" cy="27222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3000" b="1" dirty="0">
                <a:solidFill>
                  <a:srgbClr val="213163"/>
                </a:solidFill>
              </a:rPr>
              <a:t>Project Title :</a:t>
            </a:r>
          </a:p>
          <a:p>
            <a:pPr algn="l">
              <a:lnSpc>
                <a:spcPct val="90000"/>
              </a:lnSpc>
            </a:pPr>
            <a:r>
              <a:rPr lang="en-IN" sz="3000" b="1" dirty="0">
                <a:solidFill>
                  <a:srgbClr val="213163"/>
                </a:solidFill>
              </a:rPr>
              <a:t>Smart </a:t>
            </a:r>
            <a:r>
              <a:rPr lang="en-IN" sz="3000" b="1" dirty="0" err="1">
                <a:solidFill>
                  <a:srgbClr val="213163"/>
                </a:solidFill>
              </a:rPr>
              <a:t>Agro</a:t>
            </a:r>
            <a:r>
              <a:rPr lang="en-IN" sz="3000" b="1" dirty="0">
                <a:solidFill>
                  <a:srgbClr val="213163"/>
                </a:solidFill>
              </a:rPr>
              <a:t> – Intelligent IoT &amp; AI Farming System</a:t>
            </a:r>
          </a:p>
          <a:p>
            <a:pPr algn="l">
              <a:lnSpc>
                <a:spcPct val="90000"/>
              </a:lnSpc>
            </a:pPr>
            <a:endParaRPr lang="en-US" sz="3000" b="1" dirty="0">
              <a:solidFill>
                <a:srgbClr val="213163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sz="3000" dirty="0">
                <a:solidFill>
                  <a:srgbClr val="213163"/>
                </a:solidFill>
              </a:rPr>
              <a:t>Team ID - </a:t>
            </a:r>
            <a:r>
              <a:rPr lang="en-IN" sz="3000" dirty="0">
                <a:solidFill>
                  <a:srgbClr val="213163"/>
                </a:solidFill>
              </a:rPr>
              <a:t>CU_CP_Team_14061</a:t>
            </a:r>
            <a:endParaRPr lang="en-US" sz="3000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5B0D1-B06C-3466-28E3-04DA70D1A6AD}"/>
              </a:ext>
            </a:extLst>
          </p:cNvPr>
          <p:cNvSpPr txBox="1"/>
          <p:nvPr/>
        </p:nvSpPr>
        <p:spPr>
          <a:xfrm>
            <a:off x="7011281" y="4109840"/>
            <a:ext cx="476676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solidFill>
                  <a:srgbClr val="213163"/>
                </a:solidFill>
              </a:rPr>
              <a:t>Team Leader Name – Shabbir Shaikh</a:t>
            </a:r>
          </a:p>
          <a:p>
            <a:pPr algn="just"/>
            <a:r>
              <a:rPr lang="en-IN" dirty="0">
                <a:solidFill>
                  <a:srgbClr val="213163"/>
                </a:solidFill>
              </a:rPr>
              <a:t>Team Member 1 – Samarth Parmar</a:t>
            </a:r>
          </a:p>
          <a:p>
            <a:pPr algn="just"/>
            <a:r>
              <a:rPr lang="en-IN" dirty="0">
                <a:solidFill>
                  <a:srgbClr val="213163"/>
                </a:solidFill>
              </a:rPr>
              <a:t>Team Member 2 – </a:t>
            </a:r>
            <a:r>
              <a:rPr lang="en-IN" dirty="0"/>
              <a:t>Patel </a:t>
            </a:r>
            <a:r>
              <a:rPr lang="en-IN" dirty="0" err="1"/>
              <a:t>HetKumar</a:t>
            </a:r>
            <a:r>
              <a:rPr lang="en-IN" dirty="0"/>
              <a:t> </a:t>
            </a:r>
          </a:p>
          <a:p>
            <a:pPr algn="just"/>
            <a:r>
              <a:rPr lang="en-IN" dirty="0">
                <a:solidFill>
                  <a:srgbClr val="213163"/>
                </a:solidFill>
              </a:rPr>
              <a:t>Team Member 4 –</a:t>
            </a:r>
            <a:r>
              <a:rPr lang="en-IN" dirty="0" err="1"/>
              <a:t>Hevil</a:t>
            </a:r>
            <a:endParaRPr lang="en-IN" dirty="0"/>
          </a:p>
          <a:p>
            <a:pPr algn="just"/>
            <a:r>
              <a:rPr lang="en-IN" dirty="0">
                <a:solidFill>
                  <a:srgbClr val="213163"/>
                </a:solidFill>
              </a:rPr>
              <a:t>Team Member 3 – </a:t>
            </a:r>
            <a:r>
              <a:rPr lang="en-IN" dirty="0"/>
              <a:t>Kavya Trivedi</a:t>
            </a:r>
            <a:endParaRPr lang="en-IN" dirty="0">
              <a:solidFill>
                <a:srgbClr val="213163"/>
              </a:solidFill>
            </a:endParaRPr>
          </a:p>
          <a:p>
            <a:pPr algn="l"/>
            <a:endParaRPr lang="en-IN" sz="2000" dirty="0">
              <a:solidFill>
                <a:srgbClr val="213163"/>
              </a:solidFill>
            </a:endParaRPr>
          </a:p>
          <a:p>
            <a:pPr algn="l"/>
            <a:endParaRPr lang="en-IN" sz="2000" dirty="0">
              <a:solidFill>
                <a:srgbClr val="213163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282E5-EFA4-B42A-3002-A121095746EB}"/>
              </a:ext>
            </a:extLst>
          </p:cNvPr>
          <p:cNvSpPr txBox="1"/>
          <p:nvPr/>
        </p:nvSpPr>
        <p:spPr>
          <a:xfrm>
            <a:off x="7070131" y="5684082"/>
            <a:ext cx="46992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i="1" dirty="0">
              <a:solidFill>
                <a:srgbClr val="002060"/>
              </a:solidFill>
            </a:endParaRPr>
          </a:p>
          <a:p>
            <a:endParaRPr lang="en-IN" sz="1600" i="1" dirty="0">
              <a:solidFill>
                <a:srgbClr val="002060"/>
              </a:solidFill>
            </a:endParaRPr>
          </a:p>
          <a:p>
            <a:r>
              <a:rPr lang="en-IN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mentorship of,</a:t>
            </a:r>
          </a:p>
          <a:p>
            <a:r>
              <a:rPr lang="en-US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Hiren Modha</a:t>
            </a:r>
            <a:endParaRPr lang="en-IN" sz="20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684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A245A-691C-D12E-AB45-1FE81D4A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26F9D8-5390-EBFF-D1C6-1E8BFA87A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6293" y="845438"/>
            <a:ext cx="6123812" cy="752129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5240">
              <a:spcBef>
                <a:spcPts val="105"/>
              </a:spcBef>
            </a:pPr>
            <a:r>
              <a:rPr lang="en-IN" sz="2800" spc="-10" dirty="0">
                <a:solidFill>
                  <a:srgbClr val="001F5F"/>
                </a:solidFill>
              </a:rPr>
              <a:t>Project Objectives</a:t>
            </a:r>
            <a:br>
              <a:rPr lang="en-IN" dirty="0"/>
            </a:br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4BEAD1C-D4EE-217C-7DA3-DC537039DFC5}"/>
              </a:ext>
            </a:extLst>
          </p:cNvPr>
          <p:cNvSpPr txBox="1"/>
          <p:nvPr/>
        </p:nvSpPr>
        <p:spPr>
          <a:xfrm>
            <a:off x="485343" y="1644965"/>
            <a:ext cx="5610657" cy="44319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 – Introduction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Users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Wow Factor in Project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Modelling/Block Diagram/Flow of Project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Result/outcomes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Perspective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dirty="0">
              <a:latin typeface="Arial"/>
              <a:cs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507D05-4C0A-0699-FEB2-7D8F6FBD6994}"/>
              </a:ext>
            </a:extLst>
          </p:cNvPr>
          <p:cNvGrpSpPr/>
          <p:nvPr/>
        </p:nvGrpSpPr>
        <p:grpSpPr>
          <a:xfrm>
            <a:off x="6494689" y="1447800"/>
            <a:ext cx="5439319" cy="3480707"/>
            <a:chOff x="4572000" y="1352550"/>
            <a:chExt cx="3916680" cy="2506346"/>
          </a:xfrm>
        </p:grpSpPr>
        <p:pic>
          <p:nvPicPr>
            <p:cNvPr id="13" name="Picture 12" descr="A group of icons with graphs and charts&#10;&#10;AI-generated content may be incorrect.">
              <a:extLst>
                <a:ext uri="{FF2B5EF4-FFF2-40B4-BE49-F238E27FC236}">
                  <a16:creationId xmlns:a16="http://schemas.microsoft.com/office/drawing/2014/main" id="{C2D4920E-4971-AD6E-FEFA-F52546153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1352550"/>
              <a:ext cx="2258483" cy="1383030"/>
            </a:xfrm>
            <a:prstGeom prst="rect">
              <a:avLst/>
            </a:prstGeom>
          </p:spPr>
        </p:pic>
        <p:pic>
          <p:nvPicPr>
            <p:cNvPr id="14" name="Picture 13" descr="A blue arrow hitting a yellow and white target&#10;&#10;AI-generated content may be incorrect.">
              <a:extLst>
                <a:ext uri="{FF2B5EF4-FFF2-40B4-BE49-F238E27FC236}">
                  <a16:creationId xmlns:a16="http://schemas.microsoft.com/office/drawing/2014/main" id="{D6C15AD9-CCF7-5E54-7691-52E46C42C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45180" y="2052032"/>
              <a:ext cx="2343500" cy="1806864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77AD555-4197-6489-2F80-AD5258D4D7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03787" y="5021683"/>
            <a:ext cx="1155938" cy="17564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905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4A578-3B67-4E25-AD15-AC015FCB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0A7600-0D7E-4DB8-3759-6ACF409A3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30509"/>
            <a:ext cx="12192000" cy="61341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35F6041-A892-0BCB-55B1-A8BFBC7B38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1030515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800" b="1" dirty="0">
                <a:solidFill>
                  <a:srgbClr val="213163"/>
                </a:solidFill>
              </a:rPr>
              <a:t>Problem Statement</a:t>
            </a:r>
            <a:endParaRPr lang="en-US" sz="28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F66CEC1E-D414-60D6-7258-4ACDA0654F65}"/>
              </a:ext>
            </a:extLst>
          </p:cNvPr>
          <p:cNvSpPr txBox="1"/>
          <p:nvPr/>
        </p:nvSpPr>
        <p:spPr>
          <a:xfrm>
            <a:off x="603849" y="1703583"/>
            <a:ext cx="7936302" cy="184665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Modern farmers often lack real-time, actionable data regarding soil conditions, climate, and crop health. This leads to inefficient resource usage (like over-watering or under-watering) and delayed responses to crop diseases, ultimately reducing crop yield and profitability.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23DFEA-A9D4-447E-F879-5DB192BB00AF}"/>
              </a:ext>
            </a:extLst>
          </p:cNvPr>
          <p:cNvSpPr txBox="1">
            <a:spLocks/>
          </p:cNvSpPr>
          <p:nvPr/>
        </p:nvSpPr>
        <p:spPr>
          <a:xfrm>
            <a:off x="457200" y="3797559"/>
            <a:ext cx="8229600" cy="24871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759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3E36-C889-6CAE-02F7-A18A8F82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19EE50-E52E-5394-C0FF-8E0F05CC60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932579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800" b="1" dirty="0">
                <a:solidFill>
                  <a:srgbClr val="213163"/>
                </a:solidFill>
              </a:rPr>
              <a:t>Project overview - Introduction</a:t>
            </a:r>
            <a:endParaRPr lang="en-US" sz="28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07E3F00-B8A1-E3E6-46F3-9CBDC445523A}"/>
              </a:ext>
            </a:extLst>
          </p:cNvPr>
          <p:cNvSpPr txBox="1"/>
          <p:nvPr/>
        </p:nvSpPr>
        <p:spPr>
          <a:xfrm flipV="1">
            <a:off x="875868" y="2856461"/>
            <a:ext cx="4800666" cy="141577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IN" dirty="0"/>
          </a:p>
          <a:p>
            <a:pPr marL="283464" indent="-283464" algn="l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endParaRPr lang="en-IN" dirty="0"/>
          </a:p>
          <a:p>
            <a:pPr marL="283464" indent="-283464" algn="l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endParaRPr lang="en-IN" dirty="0"/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040C352-5165-B8B7-DDAD-BEB2D6B03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1579189"/>
            <a:ext cx="812968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Solution: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Smart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fully integrated hardware and software platform designed to modernize agriculture.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it Works: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 use ESP32 microcontrollers and field sensors to collect live environmental data. This data passes through a local Raspberry Pi gateway to a powerful Python backend. From there, Artificial Intelligence analyzes the data to predict irrigation needs and diagnose plant diseases, displaying everything on a live web dashboard.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DDE8ED-194A-BC19-6D00-9E9868E61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27" y="4777210"/>
            <a:ext cx="11080945" cy="7751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6FF936-AAE8-16A7-77A6-736A470B7E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287" y="1397079"/>
            <a:ext cx="2433188" cy="13554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A0A73E-25CB-16C7-3040-E0607A2BA7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0869" y="2752512"/>
            <a:ext cx="2024698" cy="20246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9174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CB28-E1BC-9383-90D6-1F93714F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931B7F-A4E2-1DA5-2BAF-AB2F7EB3A4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800" b="1" dirty="0">
                <a:solidFill>
                  <a:srgbClr val="213163"/>
                </a:solidFill>
              </a:rPr>
              <a:t>End User</a:t>
            </a:r>
            <a:endParaRPr lang="en-US" sz="2800" b="1" dirty="0">
              <a:solidFill>
                <a:srgbClr val="213163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BD1626A-D9FA-63A5-C358-5F3140E3490C}"/>
              </a:ext>
            </a:extLst>
          </p:cNvPr>
          <p:cNvGrpSpPr/>
          <p:nvPr/>
        </p:nvGrpSpPr>
        <p:grpSpPr>
          <a:xfrm>
            <a:off x="490143" y="1920551"/>
            <a:ext cx="3393641" cy="6075992"/>
            <a:chOff x="1222376" y="1966819"/>
            <a:chExt cx="2286000" cy="495520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ED15D08-9B9A-D107-415F-BC7D5B840223}"/>
                </a:ext>
              </a:extLst>
            </p:cNvPr>
            <p:cNvSpPr/>
            <p:nvPr/>
          </p:nvSpPr>
          <p:spPr>
            <a:xfrm>
              <a:off x="1222376" y="1966819"/>
              <a:ext cx="2286000" cy="2734577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8A278F-9993-615F-2B54-59758BC7DEDD}"/>
                </a:ext>
              </a:extLst>
            </p:cNvPr>
            <p:cNvSpPr txBox="1"/>
            <p:nvPr/>
          </p:nvSpPr>
          <p:spPr>
            <a:xfrm>
              <a:off x="1222376" y="1966819"/>
              <a:ext cx="2142811" cy="4955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Local &amp; Commercial Farmers  🧑‍🌾</a:t>
              </a:r>
            </a:p>
            <a:p>
              <a:pPr algn="just"/>
              <a:endPara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just"/>
              <a:r>
                <a: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Empowering daily operations with real-time soil monitoring and instant crop disease diagnosis to maximize yield</a:t>
              </a:r>
              <a:r>
                <a:rPr lang="en-US" sz="2000" dirty="0"/>
                <a:t>.</a:t>
              </a:r>
              <a:endParaRPr lang="en-IN" sz="20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D828A6-65DE-7E15-9071-910D1BBEB74E}"/>
              </a:ext>
            </a:extLst>
          </p:cNvPr>
          <p:cNvGrpSpPr/>
          <p:nvPr/>
        </p:nvGrpSpPr>
        <p:grpSpPr>
          <a:xfrm>
            <a:off x="4438672" y="1898498"/>
            <a:ext cx="3393641" cy="3401947"/>
            <a:chOff x="5259388" y="1951262"/>
            <a:chExt cx="2286000" cy="275013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AAAF3C-4A23-96A3-72DD-C6D9A7811D0F}"/>
                </a:ext>
              </a:extLst>
            </p:cNvPr>
            <p:cNvSpPr/>
            <p:nvPr/>
          </p:nvSpPr>
          <p:spPr>
            <a:xfrm>
              <a:off x="5259388" y="1966821"/>
              <a:ext cx="2286000" cy="273457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B155794-44DB-6CAB-3556-C07EFE26637A}"/>
                </a:ext>
              </a:extLst>
            </p:cNvPr>
            <p:cNvSpPr txBox="1"/>
            <p:nvPr/>
          </p:nvSpPr>
          <p:spPr>
            <a:xfrm>
              <a:off x="5259389" y="1951262"/>
              <a:ext cx="2285999" cy="2741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Smart Greenhouse Operators 🪴</a:t>
              </a:r>
            </a:p>
            <a:p>
              <a:endPara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just"/>
              <a:r>
                <a:rPr lang="en-IN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Tracking precise micro-climates and AI driven irrigation needs for highly controlled agricultural environments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BABCBF8-C90D-0617-B4D2-8253B7955B50}"/>
              </a:ext>
            </a:extLst>
          </p:cNvPr>
          <p:cNvGrpSpPr/>
          <p:nvPr/>
        </p:nvGrpSpPr>
        <p:grpSpPr>
          <a:xfrm>
            <a:off x="8387202" y="1765277"/>
            <a:ext cx="3461304" cy="5170361"/>
            <a:chOff x="9012314" y="1818392"/>
            <a:chExt cx="2564168" cy="442979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30F316-2812-A43E-359F-B09BEE73F3E5}"/>
                </a:ext>
              </a:extLst>
            </p:cNvPr>
            <p:cNvSpPr/>
            <p:nvPr/>
          </p:nvSpPr>
          <p:spPr>
            <a:xfrm>
              <a:off x="9012315" y="1904335"/>
              <a:ext cx="2564167" cy="29428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659FE1-5C4C-45C6-B447-E73CA3FF8543}"/>
                </a:ext>
              </a:extLst>
            </p:cNvPr>
            <p:cNvSpPr txBox="1"/>
            <p:nvPr/>
          </p:nvSpPr>
          <p:spPr>
            <a:xfrm>
              <a:off x="9012314" y="1818392"/>
              <a:ext cx="2564168" cy="4429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2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Agricultural extensions officers 📋</a:t>
              </a:r>
            </a:p>
            <a:p>
              <a:pPr algn="just"/>
              <a:endPara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just"/>
              <a:r>
                <a:rPr lang="en-IN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Utilizing remote AI health scores and historical data to provide expert, data driven farming recommendations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1251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0328-9DEC-91B4-3E4D-19BF7239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73B39E-642F-E67D-C1F9-30D3693DA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103004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800" b="1" dirty="0">
                <a:solidFill>
                  <a:srgbClr val="213163"/>
                </a:solidFill>
              </a:rPr>
              <a:t>Wow factor</a:t>
            </a:r>
            <a:endParaRPr lang="en-US" sz="2800" b="1" dirty="0">
              <a:solidFill>
                <a:srgbClr val="213163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AAA8E0C-4874-F83A-18A8-5DE2C207C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1803417"/>
            <a:ext cx="837172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Live Updates: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Unlike standard apps that require you to refresh the page, our React dashboard uses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WebSockets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(Socket.IO) to stream sensor data to the screen the exact second it changes in the field.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Computer Vision: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Our backend doesn't just show numbers; it uses a custom deep learning AI model to analyze uploaded leaf images, instantly detecting up to 50 different classes of plant diseases and providing specific treatment plans.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1C985-FA8C-8642-52BE-56D5B6FD70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05976" y="1403110"/>
            <a:ext cx="2933520" cy="48885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086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01452-FA8D-AA15-4D87-4F0202D6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422110-826C-E4F6-C918-6761F34D0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800" b="1" dirty="0">
                <a:solidFill>
                  <a:srgbClr val="213163"/>
                </a:solidFill>
              </a:rPr>
              <a:t>Flowchart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A0E03-7A24-DBF0-9FA2-ABC3F9F0A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92" y="1774302"/>
            <a:ext cx="11826815" cy="28953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832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66CA-7EF4-D794-8356-B220A245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AFABD4-7DC8-378D-DE0F-D1EE5042A4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65825" y="692893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800" b="1" dirty="0">
                <a:solidFill>
                  <a:srgbClr val="213163"/>
                </a:solidFill>
              </a:rPr>
              <a:t>Result / Outcomes</a:t>
            </a:r>
            <a:endParaRPr lang="en-US" sz="28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FD88F72F-9CDB-BA74-F623-E56EFFA44E46}"/>
              </a:ext>
            </a:extLst>
          </p:cNvPr>
          <p:cNvSpPr txBox="1"/>
          <p:nvPr/>
        </p:nvSpPr>
        <p:spPr>
          <a:xfrm flipV="1">
            <a:off x="791731" y="4141462"/>
            <a:ext cx="4892690" cy="65659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IN" dirty="0">
              <a:latin typeface="Arial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dirty="0">
              <a:latin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C99472-367D-56B7-66E1-0AAAF2C9CC20}"/>
              </a:ext>
            </a:extLst>
          </p:cNvPr>
          <p:cNvSpPr/>
          <p:nvPr/>
        </p:nvSpPr>
        <p:spPr>
          <a:xfrm>
            <a:off x="465825" y="1335626"/>
            <a:ext cx="2631057" cy="25361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Prototype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built an end-to-end IoT pipeline that reads analog field data and transmits it to a cloud-ready server without data loss.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CAAE07-31E4-731F-C6FC-B6C57D9A1CDD}"/>
              </a:ext>
            </a:extLst>
          </p:cNvPr>
          <p:cNvSpPr/>
          <p:nvPr/>
        </p:nvSpPr>
        <p:spPr>
          <a:xfrm>
            <a:off x="465825" y="4244196"/>
            <a:ext cx="2631057" cy="23385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Integration:</a:t>
            </a:r>
          </a:p>
          <a:p>
            <a:pPr algn="just"/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deployed Scikit-Learn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 that can accurately predict when a crop needs irrigation, estimate solar output, and calculate an overall crop health score.</a:t>
            </a: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94D3DE-B688-4459-8C63-C3DAFB9992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124" y="1395082"/>
            <a:ext cx="3872383" cy="49534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1CABE6-B496-7B66-A360-ECF03004E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524" y="1452744"/>
            <a:ext cx="3759651" cy="5012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177E21-1FC0-BFA2-1937-8C1C6CAD60C7}"/>
              </a:ext>
            </a:extLst>
          </p:cNvPr>
          <p:cNvSpPr/>
          <p:nvPr/>
        </p:nvSpPr>
        <p:spPr>
          <a:xfrm>
            <a:off x="3251343" y="1335625"/>
            <a:ext cx="4313207" cy="52471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F9A152-FB93-BB8B-514D-BB74E12797FC}"/>
              </a:ext>
            </a:extLst>
          </p:cNvPr>
          <p:cNvSpPr/>
          <p:nvPr/>
        </p:nvSpPr>
        <p:spPr>
          <a:xfrm>
            <a:off x="7719011" y="1335624"/>
            <a:ext cx="4159563" cy="52471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569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8077044-2447-F20F-732E-F59B0876B1BE}"/>
              </a:ext>
            </a:extLst>
          </p:cNvPr>
          <p:cNvSpPr txBox="1"/>
          <p:nvPr/>
        </p:nvSpPr>
        <p:spPr>
          <a:xfrm>
            <a:off x="393206" y="812164"/>
            <a:ext cx="59040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213163"/>
                </a:solidFill>
                <a:latin typeface="+mj-lt"/>
              </a:rPr>
              <a:t>Conclusion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06B000-237D-0FED-3FF0-5FE978FF8E88}"/>
              </a:ext>
            </a:extLst>
          </p:cNvPr>
          <p:cNvGrpSpPr/>
          <p:nvPr/>
        </p:nvGrpSpPr>
        <p:grpSpPr>
          <a:xfrm>
            <a:off x="6877050" y="1485900"/>
            <a:ext cx="5200650" cy="3743899"/>
            <a:chOff x="6226629" y="1485900"/>
            <a:chExt cx="5965371" cy="4294414"/>
          </a:xfrm>
        </p:grpSpPr>
        <p:pic>
          <p:nvPicPr>
            <p:cNvPr id="3" name="Picture 2" descr="A hand touching a magnifying glass over a clipboard&#10;&#10;AI-generated content may be incorrect.">
              <a:extLst>
                <a:ext uri="{FF2B5EF4-FFF2-40B4-BE49-F238E27FC236}">
                  <a16:creationId xmlns:a16="http://schemas.microsoft.com/office/drawing/2014/main" id="{D2150545-F4E6-B1E8-2BA5-178321AE9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183"/>
            <a:stretch/>
          </p:blipFill>
          <p:spPr>
            <a:xfrm>
              <a:off x="6400207" y="1485900"/>
              <a:ext cx="5448944" cy="4283529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498800-1547-FF45-1083-10EDB6755288}"/>
                </a:ext>
              </a:extLst>
            </p:cNvPr>
            <p:cNvCxnSpPr/>
            <p:nvPr/>
          </p:nvCxnSpPr>
          <p:spPr>
            <a:xfrm>
              <a:off x="6226629" y="5780314"/>
              <a:ext cx="5965371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7357E5D4-E88F-37E5-74E7-633F944B11CE}"/>
              </a:ext>
            </a:extLst>
          </p:cNvPr>
          <p:cNvSpPr txBox="1"/>
          <p:nvPr/>
        </p:nvSpPr>
        <p:spPr>
          <a:xfrm>
            <a:off x="485343" y="1693045"/>
            <a:ext cx="5610657" cy="25853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successfully bridges the gap between raw hardware sensors and advanced Artificial Intelligence. By giving farmers a low-cost, real-time, and intelligent tool, we are taking a massive step toward sustainable, data-driven agriculture.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25FE-D71F-ADEB-C5B8-82E97073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2E9217-CBBF-B96E-4814-1E879FAE64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103004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800" b="1" dirty="0">
                <a:solidFill>
                  <a:srgbClr val="213163"/>
                </a:solidFill>
              </a:rPr>
              <a:t>Future Perspective</a:t>
            </a:r>
            <a:endParaRPr lang="en-US" sz="2800" b="1" dirty="0">
              <a:solidFill>
                <a:srgbClr val="213163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96A43C-1870-99BE-1DCC-C7400D543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1822307"/>
            <a:ext cx="892215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Protocol Upgrade: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Migrating the IoT data transmission from HTTP to MQTT for lighter, faster, and more power-efficient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Actuators: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Adding relay modules to the ESP32 so the AI can automatically turn on the water pumps when the soil is dry, moving from a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system to a fully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Deployment: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Hosting the Flask backend and MongoDB on AWS or Google Cloud for global accessibility and massive scalability.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8C3A2-D87B-8798-38B9-AE54E657F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419382" y="2079786"/>
            <a:ext cx="3867508" cy="49555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2943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1;g5fab984687_2_0">
            <a:extLst>
              <a:ext uri="{FF2B5EF4-FFF2-40B4-BE49-F238E27FC236}">
                <a16:creationId xmlns:a16="http://schemas.microsoft.com/office/drawing/2014/main" id="{56731104-94CD-C847-F7D6-086A88BE5722}"/>
              </a:ext>
            </a:extLst>
          </p:cNvPr>
          <p:cNvSpPr txBox="1">
            <a:spLocks/>
          </p:cNvSpPr>
          <p:nvPr/>
        </p:nvSpPr>
        <p:spPr>
          <a:xfrm>
            <a:off x="4315206" y="2847940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 dirty="0">
                <a:solidFill>
                  <a:srgbClr val="213163"/>
                </a:solidFill>
              </a:rPr>
              <a:t>Thank You</a:t>
            </a:r>
            <a:endParaRPr lang="en-US" sz="5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SIMPLE LIGHT" val="AC31ARkz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2738</TotalTime>
  <Words>1173</Words>
  <Application>Microsoft Office PowerPoint</Application>
  <PresentationFormat>Widescreen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Simple Light</vt:lpstr>
      <vt:lpstr>PowerPoint Presentation</vt:lpstr>
      <vt:lpstr>Project Objectives </vt:lpstr>
      <vt:lpstr>Problem Statement</vt:lpstr>
      <vt:lpstr>Project overview - Introduction</vt:lpstr>
      <vt:lpstr>End User</vt:lpstr>
      <vt:lpstr>Wow factor</vt:lpstr>
      <vt:lpstr>Flowchart :</vt:lpstr>
      <vt:lpstr>Result / Outcomes</vt:lpstr>
      <vt:lpstr>PowerPoint Presentation</vt:lpstr>
      <vt:lpstr>Future Perspective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Mohd Kaisar</dc:creator>
  <cp:lastModifiedBy>SHABBIR SHAIKH</cp:lastModifiedBy>
  <cp:revision>132</cp:revision>
  <dcterms:created xsi:type="dcterms:W3CDTF">2024-06-24T09:04:39Z</dcterms:created>
  <dcterms:modified xsi:type="dcterms:W3CDTF">2026-03-12T16:30:28Z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2024-06-24T00:00:00Z</vt:filetime>
  </property>
  <property fmtid="{D5CDD505-2E9C-101B-9397-08002B2CF9AE}" pid="5" name="Producer">
    <vt:lpwstr>Microsoft® PowerPoint® 2021</vt:lpwstr>
  </property>
  <property fmtid="{D5CDD505-2E9C-101B-9397-08002B2CF9AE}" pid="6" name="ArticulateGUID">
    <vt:lpwstr>FA72309D-1D09-49B1-8354-C196AEFF1A13</vt:lpwstr>
  </property>
  <property fmtid="{D5CDD505-2E9C-101B-9397-08002B2CF9AE}" pid="7" name="ArticulatePath">
    <vt:lpwstr>https://edunetfoundationorg-my.sharepoint.com/personal/kaisar_edunetfoundation_org/Documents/Beutified ppt/Code Unnati/Sample 2025/PPT Design Template</vt:lpwstr>
  </property>
</Properties>
</file>